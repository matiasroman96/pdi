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46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6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954a9c54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d954a9c54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ac41db9bd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ac41db9b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ab85152d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ab85152d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ac41db9b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ac41db9b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1359925"/>
            <a:ext cx="9144003" cy="3783575"/>
            <a:chOff x="0" y="1359925"/>
            <a:chExt cx="9144003" cy="3783575"/>
          </a:xfrm>
        </p:grpSpPr>
        <p:sp>
          <p:nvSpPr>
            <p:cNvPr id="55" name="Google Shape;55;p13"/>
            <p:cNvSpPr txBox="1"/>
            <p:nvPr/>
          </p:nvSpPr>
          <p:spPr>
            <a:xfrm>
              <a:off x="1877925" y="1359925"/>
              <a:ext cx="7149300" cy="16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3400">
                  <a:solidFill>
                    <a:schemeClr val="accent1"/>
                  </a:solidFill>
                  <a:latin typeface="Raleway"/>
                  <a:ea typeface="Raleway"/>
                  <a:cs typeface="Raleway"/>
                  <a:sym typeface="Raleway"/>
                </a:rPr>
                <a:t>Detector de ictericia en pacientes neonatales</a:t>
              </a:r>
              <a:endParaRPr b="1" sz="34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Procesamiento digital de </a:t>
              </a:r>
              <a:r>
                <a:rPr b="1" lang="es" sz="22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imágenes</a:t>
              </a:r>
              <a:endParaRPr b="1" sz="2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pic>
          <p:nvPicPr>
            <p:cNvPr id="56" name="Google Shape;56;p13"/>
            <p:cNvPicPr preferRelativeResize="0"/>
            <p:nvPr/>
          </p:nvPicPr>
          <p:blipFill rotWithShape="1">
            <a:blip r:embed="rId3">
              <a:alphaModFix amt="69000"/>
            </a:blip>
            <a:srcRect b="38567" l="0" r="0" t="0"/>
            <a:stretch/>
          </p:blipFill>
          <p:spPr>
            <a:xfrm>
              <a:off x="0" y="3012275"/>
              <a:ext cx="9144003" cy="213122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75" y="1535050"/>
            <a:ext cx="1216500" cy="12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553975" y="5434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3D85C6"/>
                </a:solidFill>
                <a:latin typeface="Raleway"/>
                <a:ea typeface="Raleway"/>
                <a:cs typeface="Raleway"/>
                <a:sym typeface="Raleway"/>
              </a:rPr>
              <a:t>La </a:t>
            </a:r>
            <a:r>
              <a:rPr b="1" lang="es" sz="260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rPr>
              <a:t>problemática</a:t>
            </a:r>
            <a:endParaRPr b="1" sz="260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3" name="Google Shape;63;p14"/>
          <p:cNvSpPr/>
          <p:nvPr/>
        </p:nvSpPr>
        <p:spPr>
          <a:xfrm rot="10800000">
            <a:off x="660975" y="1581250"/>
            <a:ext cx="105300" cy="24318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937450" y="1488050"/>
            <a:ext cx="5286600" cy="30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</a:rPr>
              <a:t>🩺Que es la ictericia neonatal?</a:t>
            </a:r>
            <a:endParaRPr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" sz="1100">
                <a:solidFill>
                  <a:schemeClr val="dk2"/>
                </a:solidFill>
              </a:rPr>
              <a:t>Es una coloración amarillenta de la piel y mucosas en recién nacidos.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" sz="1100">
                <a:solidFill>
                  <a:schemeClr val="dk2"/>
                </a:solidFill>
              </a:rPr>
              <a:t>Se produce por el aumento de bilirrubina en sangre (hiperbilirrubinemia).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" sz="1100">
                <a:solidFill>
                  <a:schemeClr val="dk2"/>
                </a:solidFill>
              </a:rPr>
              <a:t>Fenómeno común afecta aproximadamente al 60% de los recién nacidos.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2"/>
                </a:solidFill>
              </a:rPr>
              <a:t>⌛Importancia de detectarla a tiempo</a:t>
            </a:r>
            <a:endParaRPr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" sz="1100">
                <a:solidFill>
                  <a:schemeClr val="dk2"/>
                </a:solidFill>
              </a:rPr>
              <a:t>La mayoría de los casos son fisiológicos y leves, pero en algunos bebés puede progresar rápidamente y provocar daños neurológicos irreversibles.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" sz="1100">
                <a:solidFill>
                  <a:schemeClr val="dk2"/>
                </a:solidFill>
              </a:rPr>
              <a:t>La detección precoz permite iniciar tratamientos sencillos como la fototerapia antes de que aparezcan complicaciones graves.</a:t>
            </a:r>
            <a:endParaRPr sz="11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</a:rPr>
              <a:t>🔍</a:t>
            </a:r>
            <a:r>
              <a:rPr b="1" lang="es">
                <a:solidFill>
                  <a:schemeClr val="dk2"/>
                </a:solidFill>
              </a:rPr>
              <a:t>Limitaciones de los medios tradicionales</a:t>
            </a:r>
            <a:endParaRPr b="1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" sz="1100">
                <a:solidFill>
                  <a:schemeClr val="dk2"/>
                </a:solidFill>
              </a:rPr>
              <a:t>La </a:t>
            </a:r>
            <a:r>
              <a:rPr lang="es" sz="1100">
                <a:solidFill>
                  <a:schemeClr val="dk2"/>
                </a:solidFill>
              </a:rPr>
              <a:t>detección</a:t>
            </a:r>
            <a:r>
              <a:rPr lang="es" sz="1100">
                <a:solidFill>
                  <a:schemeClr val="dk2"/>
                </a:solidFill>
              </a:rPr>
              <a:t> </a:t>
            </a:r>
            <a:r>
              <a:rPr lang="es" sz="1100">
                <a:solidFill>
                  <a:schemeClr val="dk2"/>
                </a:solidFill>
              </a:rPr>
              <a:t>inicial</a:t>
            </a:r>
            <a:r>
              <a:rPr lang="es" sz="1100">
                <a:solidFill>
                  <a:schemeClr val="dk2"/>
                </a:solidFill>
              </a:rPr>
              <a:t> se basa en la </a:t>
            </a:r>
            <a:r>
              <a:rPr lang="es" sz="1100">
                <a:solidFill>
                  <a:schemeClr val="dk2"/>
                </a:solidFill>
              </a:rPr>
              <a:t>observación</a:t>
            </a:r>
            <a:r>
              <a:rPr lang="es" sz="1100">
                <a:solidFill>
                  <a:schemeClr val="dk2"/>
                </a:solidFill>
              </a:rPr>
              <a:t> </a:t>
            </a:r>
            <a:r>
              <a:rPr lang="es" sz="1100">
                <a:solidFill>
                  <a:schemeClr val="dk2"/>
                </a:solidFill>
              </a:rPr>
              <a:t>clínica</a:t>
            </a:r>
            <a:r>
              <a:rPr lang="es" sz="1100">
                <a:solidFill>
                  <a:schemeClr val="dk2"/>
                </a:solidFill>
              </a:rPr>
              <a:t> del color de la piel, que es </a:t>
            </a:r>
            <a:r>
              <a:rPr b="1" lang="es" sz="1100">
                <a:solidFill>
                  <a:schemeClr val="dk2"/>
                </a:solidFill>
              </a:rPr>
              <a:t>subjetiva y dependiente de la experiencia del profesional.</a:t>
            </a: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s" sz="1100">
                <a:solidFill>
                  <a:schemeClr val="dk1"/>
                </a:solidFill>
              </a:rPr>
              <a:t>Factores como la iluminación ambiental o el color de la piel del bebé pueden dificultar el diagnóstico visual.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2388" y="2070238"/>
            <a:ext cx="1830575" cy="18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1097325" y="1251650"/>
            <a:ext cx="5992800" cy="1065900"/>
          </a:xfrm>
          <a:prstGeom prst="roundRect">
            <a:avLst>
              <a:gd fmla="val 898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 rot="10800000">
            <a:off x="1192250" y="4102325"/>
            <a:ext cx="1290300" cy="612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1192200" y="4102225"/>
            <a:ext cx="13206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Fotografía</a:t>
            </a:r>
            <a:r>
              <a:rPr lang="es" sz="900">
                <a:solidFill>
                  <a:schemeClr val="dk2"/>
                </a:solidFill>
              </a:rPr>
              <a:t> de cuerpo completo con fondo blanco en lo posible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/>
          <p:nvPr/>
        </p:nvSpPr>
        <p:spPr>
          <a:xfrm rot="10800000">
            <a:off x="2892475" y="4102375"/>
            <a:ext cx="1290300" cy="612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2892425" y="4102275"/>
            <a:ext cx="13206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Librerías</a:t>
            </a:r>
            <a:br>
              <a:rPr lang="es" sz="900">
                <a:solidFill>
                  <a:schemeClr val="dk2"/>
                </a:solidFill>
              </a:rPr>
            </a:br>
            <a:r>
              <a:rPr lang="es" sz="900">
                <a:solidFill>
                  <a:schemeClr val="dk2"/>
                </a:solidFill>
              </a:rPr>
              <a:t>“mediapipe”</a:t>
            </a:r>
            <a:br>
              <a:rPr lang="es" sz="900">
                <a:solidFill>
                  <a:schemeClr val="dk2"/>
                </a:solidFill>
              </a:rPr>
            </a:br>
            <a:r>
              <a:rPr lang="es" sz="900">
                <a:solidFill>
                  <a:schemeClr val="dk2"/>
                </a:solidFill>
              </a:rPr>
              <a:t>“cv2”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 rot="10800000">
            <a:off x="6292925" y="4102425"/>
            <a:ext cx="1290300" cy="612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6292875" y="4102325"/>
            <a:ext cx="13206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Función</a:t>
            </a:r>
            <a:r>
              <a:rPr lang="es" sz="900">
                <a:solidFill>
                  <a:schemeClr val="dk2"/>
                </a:solidFill>
              </a:rPr>
              <a:t> </a:t>
            </a:r>
            <a:r>
              <a:rPr lang="es" sz="900">
                <a:solidFill>
                  <a:schemeClr val="dk2"/>
                </a:solidFill>
              </a:rPr>
              <a:t>lógica</a:t>
            </a:r>
            <a:r>
              <a:rPr lang="es" sz="900">
                <a:solidFill>
                  <a:schemeClr val="dk2"/>
                </a:solidFill>
              </a:rPr>
              <a:t> en base a la tabla de kramer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553975" y="5434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3D85C6"/>
                </a:solidFill>
                <a:latin typeface="Raleway"/>
                <a:ea typeface="Raleway"/>
                <a:cs typeface="Raleway"/>
                <a:sym typeface="Raleway"/>
              </a:rPr>
              <a:t>Metodología </a:t>
            </a:r>
            <a:r>
              <a:rPr b="1" lang="es" sz="260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rPr>
              <a:t>propuesta</a:t>
            </a:r>
            <a:endParaRPr b="1" sz="260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8" name="Google Shape;78;p15"/>
          <p:cNvSpPr/>
          <p:nvPr/>
        </p:nvSpPr>
        <p:spPr>
          <a:xfrm rot="10800000">
            <a:off x="660975" y="1581250"/>
            <a:ext cx="105300" cy="24318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1093500" y="2584225"/>
            <a:ext cx="1518000" cy="1518000"/>
          </a:xfrm>
          <a:prstGeom prst="roundRect">
            <a:avLst>
              <a:gd fmla="val 980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900" y="3109800"/>
            <a:ext cx="836100" cy="8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1234200" y="2584225"/>
            <a:ext cx="12366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</a:rPr>
              <a:t>Recibir imagen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2793725" y="2584225"/>
            <a:ext cx="1518000" cy="1518000"/>
          </a:xfrm>
          <a:prstGeom prst="roundRect">
            <a:avLst>
              <a:gd fmla="val 980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2764425" y="2584225"/>
            <a:ext cx="1562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</a:rPr>
              <a:t>Detección de cuerpo y guardado de paths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4493950" y="2584225"/>
            <a:ext cx="1518000" cy="1518000"/>
          </a:xfrm>
          <a:prstGeom prst="roundRect">
            <a:avLst>
              <a:gd fmla="val 980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592650" y="2584225"/>
            <a:ext cx="13206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</a:rPr>
              <a:t>Aplicación del modelo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6194175" y="2584225"/>
            <a:ext cx="1518000" cy="1518000"/>
          </a:xfrm>
          <a:prstGeom prst="roundRect">
            <a:avLst>
              <a:gd fmla="val 9802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6334875" y="2584225"/>
            <a:ext cx="12366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</a:rPr>
              <a:t>Indicar grado de ictericia</a:t>
            </a:r>
            <a:endParaRPr b="1" sz="1200">
              <a:solidFill>
                <a:schemeClr val="dk2"/>
              </a:solidFill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1800" y="3127150"/>
            <a:ext cx="801400" cy="8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8537" y="3337500"/>
            <a:ext cx="608376" cy="608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2475" y="3144500"/>
            <a:ext cx="801400" cy="8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3858" y="1400957"/>
            <a:ext cx="3338192" cy="80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25313" y="3165948"/>
            <a:ext cx="354575" cy="35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25550" y="3165948"/>
            <a:ext cx="354575" cy="35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34450" y="3165948"/>
            <a:ext cx="354575" cy="35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353875" y="2104388"/>
            <a:ext cx="696625" cy="6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5075650" y="2215998"/>
            <a:ext cx="354575" cy="3545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1290900" y="1400950"/>
            <a:ext cx="18459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Librerías</a:t>
            </a:r>
            <a:br>
              <a:rPr lang="es" sz="900">
                <a:solidFill>
                  <a:schemeClr val="dk2"/>
                </a:solidFill>
              </a:rPr>
            </a:br>
            <a:r>
              <a:rPr lang="es" sz="900">
                <a:solidFill>
                  <a:schemeClr val="dk2"/>
                </a:solidFill>
              </a:rPr>
              <a:t>numpy, cv2, os, pandas, matplotlyb, random, tdmq, sklearn, tensorflow,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/>
        </p:nvSpPr>
        <p:spPr>
          <a:xfrm>
            <a:off x="553975" y="5434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3D85C6"/>
                </a:solidFill>
                <a:latin typeface="Raleway"/>
                <a:ea typeface="Raleway"/>
                <a:cs typeface="Raleway"/>
                <a:sym typeface="Raleway"/>
              </a:rPr>
              <a:t>Desafíos</a:t>
            </a:r>
            <a:r>
              <a:rPr b="1" lang="es" sz="2600">
                <a:solidFill>
                  <a:srgbClr val="3D85C6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s" sz="260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rPr>
              <a:t>enfrentados</a:t>
            </a:r>
            <a:endParaRPr b="1" sz="260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3" name="Google Shape;103;p16"/>
          <p:cNvSpPr/>
          <p:nvPr/>
        </p:nvSpPr>
        <p:spPr>
          <a:xfrm rot="10800000">
            <a:off x="660975" y="1581250"/>
            <a:ext cx="105300" cy="24318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1710288" y="1498463"/>
            <a:ext cx="61212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Ajustar el balance de colores </a:t>
            </a:r>
            <a:r>
              <a:rPr lang="es" sz="1200">
                <a:solidFill>
                  <a:schemeClr val="dk2"/>
                </a:solidFill>
              </a:rPr>
              <a:t>significó</a:t>
            </a:r>
            <a:r>
              <a:rPr lang="es" sz="1200">
                <a:solidFill>
                  <a:schemeClr val="dk2"/>
                </a:solidFill>
              </a:rPr>
              <a:t> una mejora notable del modelo, aprender a trabajar con estas tarjetas fue clave (”X-Rite ColorChecker”) mejorando el rendimiento del modelo casi en un 20%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 rotWithShape="1">
          <a:blip r:embed="rId3">
            <a:alphaModFix/>
          </a:blip>
          <a:srcRect b="49903" l="67745" r="0" t="2893"/>
          <a:stretch/>
        </p:blipFill>
        <p:spPr>
          <a:xfrm>
            <a:off x="1081188" y="1618337"/>
            <a:ext cx="477875" cy="4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319" y="2479263"/>
            <a:ext cx="599624" cy="70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1710288" y="2479263"/>
            <a:ext cx="61212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Trabajar con “</a:t>
            </a:r>
            <a:r>
              <a:rPr lang="es" sz="1200">
                <a:solidFill>
                  <a:schemeClr val="dk2"/>
                </a:solidFill>
              </a:rPr>
              <a:t>mediapipe</a:t>
            </a:r>
            <a:r>
              <a:rPr lang="es" sz="1200">
                <a:solidFill>
                  <a:schemeClr val="dk2"/>
                </a:solidFill>
              </a:rPr>
              <a:t>” fue </a:t>
            </a:r>
            <a:r>
              <a:rPr lang="es" sz="1200">
                <a:solidFill>
                  <a:schemeClr val="dk2"/>
                </a:solidFill>
              </a:rPr>
              <a:t>esencial</a:t>
            </a:r>
            <a:r>
              <a:rPr lang="es" sz="1200">
                <a:solidFill>
                  <a:schemeClr val="dk2"/>
                </a:solidFill>
              </a:rPr>
              <a:t> para segmentar el cuerpo y encontrar puntos donde tomar muestras para hacer una equivalencia con la tabla de kramer.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150" y="3340188"/>
            <a:ext cx="709949" cy="70994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1710288" y="3385738"/>
            <a:ext cx="61212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Implementar la </a:t>
            </a:r>
            <a:r>
              <a:rPr lang="es" sz="1200">
                <a:solidFill>
                  <a:schemeClr val="dk2"/>
                </a:solidFill>
              </a:rPr>
              <a:t>metodología</a:t>
            </a:r>
            <a:r>
              <a:rPr lang="es" sz="1200">
                <a:solidFill>
                  <a:schemeClr val="dk2"/>
                </a:solidFill>
              </a:rPr>
              <a:t> de un “pipeline” </a:t>
            </a:r>
            <a:r>
              <a:rPr lang="es" sz="1200">
                <a:solidFill>
                  <a:schemeClr val="dk2"/>
                </a:solidFill>
              </a:rPr>
              <a:t>permitió</a:t>
            </a:r>
            <a:r>
              <a:rPr lang="es" sz="1200">
                <a:solidFill>
                  <a:schemeClr val="dk2"/>
                </a:solidFill>
              </a:rPr>
              <a:t> organizar el flujo de trabajo de una forma mucho </a:t>
            </a:r>
            <a:r>
              <a:rPr lang="es" sz="1200">
                <a:solidFill>
                  <a:schemeClr val="dk2"/>
                </a:solidFill>
              </a:rPr>
              <a:t>más</a:t>
            </a:r>
            <a:r>
              <a:rPr lang="es" sz="1200">
                <a:solidFill>
                  <a:schemeClr val="dk2"/>
                </a:solidFill>
              </a:rPr>
              <a:t> eficiente y escalable.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553975" y="5434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3D85C6"/>
                </a:solidFill>
                <a:latin typeface="Raleway"/>
                <a:ea typeface="Raleway"/>
                <a:cs typeface="Raleway"/>
                <a:sym typeface="Raleway"/>
              </a:rPr>
              <a:t>Resultados </a:t>
            </a:r>
            <a:r>
              <a:rPr b="1" lang="es" sz="260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rPr>
              <a:t>obtenidos</a:t>
            </a:r>
            <a:endParaRPr b="1" sz="260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5" name="Google Shape;115;p17"/>
          <p:cNvSpPr/>
          <p:nvPr/>
        </p:nvSpPr>
        <p:spPr>
          <a:xfrm rot="10800000">
            <a:off x="660975" y="1581250"/>
            <a:ext cx="105300" cy="24318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917625" y="1372900"/>
            <a:ext cx="4851300" cy="3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Encontramos resultados muy positivos, si bien es difícil conseguir o generar imágenes de muestra para nuestro modelo dada la discreción del contenido logramos acceder a fotos de un bebe diagnosticado por un pediatra que coincide exactamente con la detección del modelo.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Fue importante hacer un balance de blancos en la imagen para tener buenos resultados por lo que tener un tono blanco de fondo es de mucha ayuda.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2"/>
                </a:solidFill>
              </a:rPr>
              <a:t>Próximos pasos</a:t>
            </a:r>
            <a:endParaRPr b="1"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s" sz="1200">
                <a:solidFill>
                  <a:schemeClr val="dk2"/>
                </a:solidFill>
              </a:rPr>
              <a:t>Pasar de un balance de colores en base a escala de grises a uno usando todo el espectro de colores de la tarjeta.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s" sz="1200">
                <a:solidFill>
                  <a:schemeClr val="dk2"/>
                </a:solidFill>
              </a:rPr>
              <a:t>Mejorar la detección del segmento de piel en los datos de entrenamiento del modelo.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s" sz="1200">
                <a:solidFill>
                  <a:schemeClr val="dk2"/>
                </a:solidFill>
              </a:rPr>
              <a:t>Generar datos sintéticos de mejor calidad.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s" sz="1200">
                <a:solidFill>
                  <a:schemeClr val="dk2"/>
                </a:solidFill>
              </a:rPr>
              <a:t>Usar una CNN.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8325" y="1372901"/>
            <a:ext cx="1126253" cy="2028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6853962" y="1924569"/>
            <a:ext cx="2013227" cy="909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8332" y="3401070"/>
            <a:ext cx="2170294" cy="120165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6403875" y="1588950"/>
            <a:ext cx="426600" cy="119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